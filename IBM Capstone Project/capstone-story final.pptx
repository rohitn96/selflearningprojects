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sldIdLst>
    <p:sldId id="256" r:id="rId5"/>
    <p:sldId id="257" r:id="rId6"/>
    <p:sldId id="260" r:id="rId7"/>
    <p:sldId id="261" r:id="rId8"/>
    <p:sldId id="262" r:id="rId9"/>
    <p:sldId id="258" r:id="rId10"/>
    <p:sldId id="264" r:id="rId11"/>
    <p:sldId id="278" r:id="rId12"/>
    <p:sldId id="282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87" r:id="rId21"/>
    <p:sldId id="288" r:id="rId22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CC9B6-A6C2-46C7-BBB9-C6A60C5C4540}" v="35" dt="2020-10-29T00:07:35.91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7" autoAdjust="0"/>
    <p:restoredTop sz="74189" autoAdjust="0"/>
  </p:normalViewPr>
  <p:slideViewPr>
    <p:cSldViewPr snapToGrid="0" snapToObjects="1" showGuides="1">
      <p:cViewPr varScale="1">
        <p:scale>
          <a:sx n="49" d="100"/>
          <a:sy n="49" d="100"/>
        </p:scale>
        <p:origin x="120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35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31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34" Type="http://schemas.openxmlformats.org/officeDocument/2006/relationships/customXml" Target="../ink/ink29.xml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8.xml"/><Relationship Id="rId23" Type="http://schemas.openxmlformats.org/officeDocument/2006/relationships/customXml" Target="../ink/ink19.xml"/><Relationship Id="rId28" Type="http://schemas.openxmlformats.org/officeDocument/2006/relationships/customXml" Target="../ink/ink24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7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Relationship Id="rId30" Type="http://schemas.openxmlformats.org/officeDocument/2006/relationships/customXml" Target="../ink/ink26.xml"/><Relationship Id="rId35" Type="http://schemas.openxmlformats.org/officeDocument/2006/relationships/customXml" Target="../ink/ink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NULL"/><Relationship Id="rId18" Type="http://schemas.openxmlformats.org/officeDocument/2006/relationships/customXml" Target="../ink/ink40.xml"/><Relationship Id="rId3" Type="http://schemas.openxmlformats.org/officeDocument/2006/relationships/customXml" Target="../ink/ink31.xml"/><Relationship Id="rId7" Type="http://schemas.openxmlformats.org/officeDocument/2006/relationships/image" Target="NULL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image" Target="../media/image10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NULL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2345719"/>
            <a:ext cx="2900302" cy="132556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rgbClr val="0E659B"/>
                </a:solidFill>
              </a:rPr>
              <a:t>&lt;M6 Capstone Project&gt;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047746"/>
            <a:ext cx="5181600" cy="2616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&lt;Rohit Nair&gt;</a:t>
            </a:r>
          </a:p>
          <a:p>
            <a:pPr marL="0" indent="0">
              <a:buNone/>
            </a:pPr>
            <a:r>
              <a:rPr lang="en-US" dirty="0"/>
              <a:t>&lt;20</a:t>
            </a:r>
            <a:r>
              <a:rPr lang="en-US" baseline="30000" dirty="0"/>
              <a:t>th</a:t>
            </a:r>
            <a:r>
              <a:rPr lang="en-US" dirty="0"/>
              <a:t> October 2023&gt;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8160" y="746232"/>
                <a:ext cx="182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4"/>
            <a:ext cx="7068725" cy="446544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To excel in software development, it's crucial to explore the evolving technological landscape, emphasizing the importance, popularity, and expected changes. This knowledge is fundamental for staying relevant and effective.</a:t>
            </a:r>
          </a:p>
          <a:p>
            <a:pPr algn="l"/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Furthermore, we need to delve into the shifting trends in database technologies and data management strategies, as data plays a central role in our increasingly data-driven world.</a:t>
            </a:r>
          </a:p>
          <a:p>
            <a:pPr algn="l"/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In the realm of web frameworks and platforms, obtaining a comprehensive understanding of the continually changing environment is invaluable for strategically creating and launching web-based solutions that can adapt to the dynamic demands of the digital marketplace.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0" i="0" u="none" strike="noStrike" baseline="0" dirty="0">
              <a:latin typeface="Arial" panose="020B0604020202020204" pitchFamily="34" charset="0"/>
            </a:endParaRPr>
          </a:p>
          <a:p>
            <a:r>
              <a:rPr lang="en-US" b="0" i="0" u="none" strike="noStrike" baseline="0" dirty="0" err="1">
                <a:solidFill>
                  <a:srgbClr val="006FC0"/>
                </a:solidFill>
                <a:latin typeface="Yu Gothic UI" panose="020B0500000000000000" pitchFamily="34" charset="-128"/>
              </a:rPr>
              <a:t>Analysing</a:t>
            </a:r>
            <a:r>
              <a:rPr lang="en-US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 different platforms used for different things.</a:t>
            </a:r>
            <a:endParaRPr lang="en-IN" b="0" i="0" u="none" strike="noStrike" baseline="0" dirty="0">
              <a:latin typeface="Arial" panose="020B0604020202020204" pitchFamily="34" charset="0"/>
            </a:endParaRPr>
          </a:p>
          <a:p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Coding language trends.</a:t>
            </a:r>
            <a:endParaRPr lang="en-IN" b="0" i="0" u="none" strike="noStrike" baseline="0" dirty="0">
              <a:latin typeface="Arial" panose="020B0604020202020204" pitchFamily="34" charset="0"/>
            </a:endParaRPr>
          </a:p>
          <a:p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Database trends.</a:t>
            </a:r>
            <a:endParaRPr lang="en-IN" b="0" i="0" u="none" strike="noStrike" baseline="0" dirty="0"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Such analysis is important to keep up with tech trends </a:t>
            </a:r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and incline forward accordingly. </a:t>
            </a:r>
          </a:p>
          <a:p>
            <a:endParaRPr lang="en-IN" b="0" i="0" u="none" strike="noStrike" baseline="0" dirty="0">
              <a:solidFill>
                <a:srgbClr val="006FC0"/>
              </a:solidFill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3275" y="1834618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200" b="0" i="0" u="none" strike="noStrike" baseline="0" dirty="0">
              <a:latin typeface="Arial" panose="020B0604020202020204" pitchFamily="34" charset="0"/>
            </a:endParaRPr>
          </a:p>
          <a:p>
            <a:r>
              <a:rPr lang="en-IN" sz="32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Databases </a:t>
            </a:r>
            <a:endParaRPr lang="en-IN" sz="3200" b="0" i="0" u="none" strike="noStrike" baseline="0" dirty="0">
              <a:latin typeface="Yu Gothic UI" panose="020B0500000000000000" pitchFamily="34" charset="-128"/>
            </a:endParaRPr>
          </a:p>
          <a:p>
            <a:r>
              <a:rPr lang="en-IN" sz="32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Data from service providers </a:t>
            </a:r>
            <a:endParaRPr lang="en-IN" sz="3200" b="0" i="0" u="none" strike="noStrike" baseline="0" dirty="0">
              <a:latin typeface="Yu Gothic UI" panose="020B0500000000000000" pitchFamily="34" charset="-128"/>
            </a:endParaRPr>
          </a:p>
          <a:p>
            <a:r>
              <a:rPr lang="en-IN" sz="32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Coding Platforms </a:t>
            </a:r>
            <a:endParaRPr lang="en-IN" sz="3200" b="0" i="0" u="none" strike="noStrike" baseline="0" dirty="0">
              <a:latin typeface="Yu Gothic UI" panose="020B0500000000000000" pitchFamily="34" charset="-128"/>
            </a:endParaRPr>
          </a:p>
          <a:p>
            <a:r>
              <a:rPr lang="en-IN" sz="32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Software purchases  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AEC2B-3C9C-C123-5FBC-5322A3FB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62502"/>
            <a:ext cx="4610012" cy="2553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93BE4-6ED1-FF4B-EE69-CC0A7A7E5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62501"/>
            <a:ext cx="5221786" cy="25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2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Findings</a:t>
            </a:r>
          </a:p>
          <a:p>
            <a:pPr marL="0" indent="0" algn="l">
              <a:buNone/>
            </a:pPr>
            <a:endParaRPr lang="en-IN" sz="2400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US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C# more popular then C++ or </a:t>
            </a:r>
            <a:r>
              <a:rPr lang="en-IN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Python </a:t>
            </a:r>
            <a:endParaRPr lang="en-US" sz="3600" dirty="0"/>
          </a:p>
          <a:p>
            <a:pPr marL="0" indent="0">
              <a:buNone/>
            </a:pPr>
            <a:endParaRPr lang="en-IN" sz="2400" b="0" i="0" u="none" strike="noStrike" baseline="0" dirty="0">
              <a:latin typeface="Arial" panose="020B0604020202020204" pitchFamily="34" charset="0"/>
            </a:endParaRPr>
          </a:p>
          <a:p>
            <a:r>
              <a:rPr lang="en-IN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Java most popular language 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IN" sz="18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Software development leaning interests </a:t>
            </a:r>
            <a:endParaRPr lang="en-IN" sz="1800" b="0" i="0" u="none" strike="noStrike" baseline="0" dirty="0">
              <a:latin typeface="Arial" panose="020B0604020202020204" pitchFamily="34" charset="0"/>
            </a:endParaRPr>
          </a:p>
          <a:p>
            <a:r>
              <a:rPr lang="en-IN" sz="1800" b="0" i="0" u="none" strike="noStrike" baseline="0" dirty="0">
                <a:solidFill>
                  <a:srgbClr val="006FC0"/>
                </a:solidFill>
                <a:latin typeface="Arial" panose="020B0604020202020204" pitchFamily="34" charset="0"/>
              </a:rPr>
              <a:t>Web development learners </a:t>
            </a:r>
            <a:endParaRPr lang="en-IN" sz="1800" b="0" i="0" u="none" strike="noStrike" baseline="0" dirty="0">
              <a:latin typeface="Arial" panose="020B0604020202020204" pitchFamily="34" charset="0"/>
            </a:endParaRPr>
          </a:p>
          <a:p>
            <a:r>
              <a:rPr lang="en-IN" sz="1800" b="0" i="0" u="none" strike="noStrike" baseline="0" dirty="0">
                <a:solidFill>
                  <a:srgbClr val="006FC0"/>
                </a:solidFill>
                <a:latin typeface="Arial" panose="020B0604020202020204" pitchFamily="34" charset="0"/>
              </a:rPr>
              <a:t>Basics over better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E6B534-5A34-5ED2-ABEE-9689E22DE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84" y="2689541"/>
            <a:ext cx="4979451" cy="2770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B35AB3-DA44-8B71-117C-5463E4E4B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087" y="2689541"/>
            <a:ext cx="5195097" cy="279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8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Findings</a:t>
            </a:r>
          </a:p>
          <a:p>
            <a:pPr marL="0" indent="0">
              <a:buNone/>
            </a:pPr>
            <a:endParaRPr lang="en-US" sz="3600" dirty="0"/>
          </a:p>
          <a:p>
            <a:pPr algn="l"/>
            <a:endParaRPr lang="en-IN" sz="2400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IN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SQL remains prominent </a:t>
            </a:r>
            <a:endParaRPr lang="en-US" sz="3600" dirty="0"/>
          </a:p>
          <a:p>
            <a:pPr algn="l"/>
            <a:endParaRPr lang="en-IN" sz="2400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IN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MongoDB rising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Implications</a:t>
            </a:r>
          </a:p>
          <a:p>
            <a:pPr marL="0" indent="0">
              <a:buNone/>
            </a:pPr>
            <a:endParaRPr lang="en-US" sz="3600" dirty="0"/>
          </a:p>
          <a:p>
            <a:pPr algn="l"/>
            <a:endParaRPr lang="en-IN" sz="2400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IN" sz="2400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Oracle keeps data base monopoly with SQL </a:t>
            </a:r>
            <a:endParaRPr lang="en-IN" sz="2400" b="0" i="0" u="none" strike="noStrike" baseline="0" dirty="0">
              <a:solidFill>
                <a:srgbClr val="006FC0"/>
              </a:solidFill>
              <a:latin typeface="Arial" panose="020B0604020202020204" pitchFamily="34" charset="0"/>
            </a:endParaRPr>
          </a:p>
          <a:p>
            <a:endParaRPr lang="en-IN" sz="2400" b="0" i="0" u="none" strike="noStrike" baseline="0" dirty="0">
              <a:latin typeface="Arial" panose="020B0604020202020204" pitchFamily="34" charset="0"/>
            </a:endParaRPr>
          </a:p>
          <a:p>
            <a:r>
              <a:rPr lang="en-IN" sz="2400" b="0" i="0" u="none" strike="noStrike" baseline="0" dirty="0">
                <a:solidFill>
                  <a:srgbClr val="006FC0"/>
                </a:solidFill>
                <a:latin typeface="Arial" panose="020B0604020202020204" pitchFamily="34" charset="0"/>
              </a:rPr>
              <a:t>Python and Cassandra getting more popular with people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3142210"/>
            <a:ext cx="7068725" cy="256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https://eu2.ca.analytics.ibm.com/bi/?perspective=dashboard&amp;pathRef=.my_folders%2FM5%2BDashboard%2BCapstone%2BProject&amp;action=view&amp;mode=dashboard&amp;subView=model0000018b4d31f193_00000001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7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IBM Plex Sans" panose="020F0502020204030204" pitchFamily="34" charset="0"/>
              </a:rPr>
              <a:t> Current Technology Usage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C8F16-78FB-4D23-EE20-9AC95562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404162"/>
            <a:ext cx="8305800" cy="470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12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Future Technology Trend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0692D-DDED-5E1A-23E7-159F21A0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8" y="1482154"/>
            <a:ext cx="8045863" cy="45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4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874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Demographics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2BB77-5003-F82E-00BE-8A7E45D97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165" y="1425029"/>
            <a:ext cx="8451669" cy="48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4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Findings</a:t>
            </a:r>
          </a:p>
          <a:p>
            <a:pPr marL="0" indent="0" algn="l">
              <a:buNone/>
            </a:pPr>
            <a:endParaRPr lang="en-IN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US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The top 5 web frames gaining popularity </a:t>
            </a:r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are React.js, Angular.js, Vue.js, ASP.NET, jQuery and Express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Implications</a:t>
            </a:r>
          </a:p>
          <a:p>
            <a:pPr marL="0" indent="0" algn="l">
              <a:buNone/>
            </a:pPr>
            <a:endParaRPr lang="en-IN" b="0" i="0" u="none" strike="noStrike" baseline="0" dirty="0">
              <a:solidFill>
                <a:srgbClr val="000000"/>
              </a:solidFill>
              <a:latin typeface="Yu Gothic UI" panose="020B0500000000000000" pitchFamily="34" charset="-128"/>
            </a:endParaRPr>
          </a:p>
          <a:p>
            <a:r>
              <a:rPr lang="en-US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Continue employment of staff skilled in </a:t>
            </a:r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JavaScript and </a:t>
            </a:r>
            <a:r>
              <a:rPr lang="en-US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HTML/CSS but increase employment in people </a:t>
            </a:r>
            <a:r>
              <a:rPr lang="en-IN" b="0" i="0" u="none" strike="noStrike" baseline="0" dirty="0">
                <a:solidFill>
                  <a:srgbClr val="006FC0"/>
                </a:solidFill>
                <a:latin typeface="Yu Gothic UI" panose="020B0500000000000000" pitchFamily="34" charset="-128"/>
              </a:rPr>
              <a:t>skilled in TypeScript and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Prepare budget accordingly</a:t>
            </a:r>
          </a:p>
          <a:p>
            <a:r>
              <a:rPr lang="en-IN" sz="3200" dirty="0">
                <a:solidFill>
                  <a:schemeClr val="tx1"/>
                </a:solidFill>
                <a:latin typeface="+mn-lt"/>
              </a:rPr>
              <a:t>Plan future products accordingly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CCE344-5D4F-283B-9C12-D3BB7A9F07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751" y="1708614"/>
            <a:ext cx="10122498" cy="4298429"/>
          </a:xfrm>
        </p:spPr>
      </p:pic>
    </p:spTree>
    <p:extLst>
      <p:ext uri="{BB962C8B-B14F-4D97-AF65-F5344CB8AC3E}">
        <p14:creationId xmlns:p14="http://schemas.microsoft.com/office/powerpoint/2010/main" val="81604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D1431F-73B6-4298-638C-E58AAEE94B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1776" y="1434294"/>
            <a:ext cx="10308448" cy="4631705"/>
          </a:xfrm>
        </p:spPr>
      </p:pic>
    </p:spTree>
    <p:extLst>
      <p:ext uri="{BB962C8B-B14F-4D97-AF65-F5344CB8AC3E}">
        <p14:creationId xmlns:p14="http://schemas.microsoft.com/office/powerpoint/2010/main" val="70598892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371</Words>
  <Application>Microsoft Office PowerPoint</Application>
  <PresentationFormat>Widescreen</PresentationFormat>
  <Paragraphs>83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Yu Gothic UI</vt:lpstr>
      <vt:lpstr>Arial</vt:lpstr>
      <vt:lpstr>Calibri</vt:lpstr>
      <vt:lpstr>Helv</vt:lpstr>
      <vt:lpstr>IBM Plex Mono SemiBold</vt:lpstr>
      <vt:lpstr>IBM Plex Mono Text</vt:lpstr>
      <vt:lpstr>IBM Plex Sans</vt:lpstr>
      <vt:lpstr>IBM Plex Sans Text</vt:lpstr>
      <vt:lpstr>Söhne</vt:lpstr>
      <vt:lpstr>SLIDE_TEMPLATE_skill_network</vt:lpstr>
      <vt:lpstr>&lt;M6 Capstone Project&gt;</vt:lpstr>
      <vt:lpstr>OUTLINE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 Current Technology Usage</vt:lpstr>
      <vt:lpstr>Future Technology Trend</vt:lpstr>
      <vt:lpstr>Demographics</vt:lpstr>
      <vt:lpstr>DISCUSSION</vt:lpstr>
      <vt:lpstr>OVERALL FINDINGS &amp; IMPLICATIONS</vt:lpstr>
      <vt:lpstr>CONCLUSION</vt:lpstr>
      <vt:lpstr> JOB POSTINGS</vt:lpstr>
      <vt:lpstr>POPULAR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Rohit R Nair</cp:lastModifiedBy>
  <cp:revision>25</cp:revision>
  <dcterms:created xsi:type="dcterms:W3CDTF">2020-10-28T18:29:43Z</dcterms:created>
  <dcterms:modified xsi:type="dcterms:W3CDTF">2023-10-20T15:21:05Z</dcterms:modified>
</cp:coreProperties>
</file>